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82" r:id="rId7"/>
    <p:sldId id="283" r:id="rId8"/>
    <p:sldId id="284" r:id="rId9"/>
    <p:sldId id="288" r:id="rId10"/>
    <p:sldId id="262" r:id="rId11"/>
    <p:sldId id="263" r:id="rId12"/>
    <p:sldId id="285" r:id="rId13"/>
    <p:sldId id="286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4" r:id="rId24"/>
    <p:sldId id="273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21833-F64D-4EA2-AA0D-C493C80C7A7A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47274-19EE-4D9E-A62B-384998742C51}" type="slidenum">
              <a:rPr lang="en-ID" smtClean="0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47274-19EE-4D9E-A62B-384998742C51}" type="slidenum">
              <a:rPr lang="en-ID" smtClean="0"/>
              <a:t>3</a:t>
            </a:fld>
            <a:endParaRPr lang="en-I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447274-19EE-4D9E-A62B-384998742C51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2900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8A3C9-BFF4-453C-A069-B43E4B510789}" type="datetimeFigureOut">
              <a:rPr lang="en-ID" smtClean="0"/>
              <a:t>29/09/2026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74EE4-BA94-4BD6-92B9-25AA6D567584}" type="slidenum">
              <a:rPr lang="en-ID" smtClean="0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Array in Python</a:t>
            </a:r>
            <a:endParaRPr lang="en-ID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KELOMPOK 3</a:t>
            </a:r>
            <a:endParaRPr lang="en-ID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576263"/>
            <a:ext cx="10515600" cy="1100137"/>
          </a:xfrm>
        </p:spPr>
        <p:txBody>
          <a:bodyPr/>
          <a:lstStyle/>
          <a:p>
            <a:r>
              <a:rPr lang="en-ID" b="1" dirty="0" err="1"/>
              <a:t>Konsep</a:t>
            </a:r>
            <a:r>
              <a:rPr lang="en-ID" b="1" dirty="0"/>
              <a:t> Dasar Array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785257"/>
            <a:ext cx="10515600" cy="4304393"/>
          </a:xfrm>
        </p:spPr>
        <p:txBody>
          <a:bodyPr>
            <a:normAutofit fontScale="92500" lnSpcReduction="20000"/>
          </a:bodyPr>
          <a:lstStyle/>
          <a:p>
            <a:r>
              <a:rPr lang="en-ID" b="1" dirty="0" err="1">
                <a:solidFill>
                  <a:schemeClr val="tx1"/>
                </a:solidFill>
              </a:rPr>
              <a:t>Pengertian</a:t>
            </a:r>
            <a:endParaRPr lang="en-ID" b="1" dirty="0">
              <a:solidFill>
                <a:schemeClr val="tx1"/>
              </a:solidFill>
            </a:endParaRPr>
          </a:p>
          <a:p>
            <a:r>
              <a:rPr lang="en-ID" dirty="0">
                <a:solidFill>
                  <a:schemeClr val="tx1"/>
                </a:solidFill>
              </a:rPr>
              <a:t>Array </a:t>
            </a:r>
            <a:r>
              <a:rPr lang="en-ID" dirty="0" err="1">
                <a:solidFill>
                  <a:schemeClr val="tx1"/>
                </a:solidFill>
              </a:rPr>
              <a:t>adalah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struktur</a:t>
            </a:r>
            <a:r>
              <a:rPr lang="en-ID" dirty="0">
                <a:solidFill>
                  <a:schemeClr val="tx1"/>
                </a:solidFill>
              </a:rPr>
              <a:t> data yang </a:t>
            </a:r>
            <a:r>
              <a:rPr lang="en-ID" dirty="0" err="1">
                <a:solidFill>
                  <a:schemeClr val="tx1"/>
                </a:solidFill>
              </a:rPr>
              <a:t>menyimpan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kumpulan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elemen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dengan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tipe</a:t>
            </a:r>
            <a:r>
              <a:rPr lang="en-ID" b="1" dirty="0">
                <a:solidFill>
                  <a:schemeClr val="tx1"/>
                </a:solidFill>
              </a:rPr>
              <a:t> data </a:t>
            </a:r>
            <a:r>
              <a:rPr lang="en-ID" b="1" dirty="0" err="1">
                <a:solidFill>
                  <a:schemeClr val="tx1"/>
                </a:solidFill>
              </a:rPr>
              <a:t>sejenis</a:t>
            </a:r>
            <a:r>
              <a:rPr lang="en-ID" dirty="0">
                <a:solidFill>
                  <a:schemeClr val="tx1"/>
                </a:solidFill>
              </a:rPr>
              <a:t>, yang </a:t>
            </a:r>
            <a:r>
              <a:rPr lang="en-ID" dirty="0" err="1">
                <a:solidFill>
                  <a:schemeClr val="tx1"/>
                </a:solidFill>
              </a:rPr>
              <a:t>disimpan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secara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berurutan</a:t>
            </a:r>
            <a:r>
              <a:rPr lang="en-ID" b="1" dirty="0">
                <a:solidFill>
                  <a:schemeClr val="tx1"/>
                </a:solidFill>
              </a:rPr>
              <a:t> (contiguous)</a:t>
            </a:r>
            <a:r>
              <a:rPr lang="en-ID" dirty="0">
                <a:solidFill>
                  <a:schemeClr val="tx1"/>
                </a:solidFill>
              </a:rPr>
              <a:t> di </a:t>
            </a:r>
            <a:r>
              <a:rPr lang="en-ID" dirty="0" err="1">
                <a:solidFill>
                  <a:schemeClr val="tx1"/>
                </a:solidFill>
              </a:rPr>
              <a:t>memori</a:t>
            </a:r>
            <a:r>
              <a:rPr lang="en-ID" dirty="0">
                <a:solidFill>
                  <a:schemeClr val="tx1"/>
                </a:solidFill>
              </a:rPr>
              <a:t>, dan </a:t>
            </a:r>
            <a:r>
              <a:rPr lang="en-ID" dirty="0" err="1">
                <a:solidFill>
                  <a:schemeClr val="tx1"/>
                </a:solidFill>
              </a:rPr>
              <a:t>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diakses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menggunakan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indeks</a:t>
            </a:r>
            <a:r>
              <a:rPr lang="en-ID" dirty="0">
                <a:solidFill>
                  <a:schemeClr val="tx1"/>
                </a:solidFill>
              </a:rPr>
              <a:t>.</a:t>
            </a:r>
          </a:p>
          <a:p>
            <a:endParaRPr lang="en-ID" dirty="0">
              <a:solidFill>
                <a:schemeClr val="tx1"/>
              </a:solidFill>
            </a:endParaRPr>
          </a:p>
          <a:p>
            <a:r>
              <a:rPr lang="en-ID" b="1" dirty="0" err="1">
                <a:solidFill>
                  <a:schemeClr val="tx1"/>
                </a:solidFill>
              </a:rPr>
              <a:t>Karakteristik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utama</a:t>
            </a:r>
            <a:r>
              <a:rPr lang="en-ID" b="1" dirty="0">
                <a:solidFill>
                  <a:schemeClr val="tx1"/>
                </a:solidFill>
              </a:rPr>
              <a:t> array: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b="1" dirty="0" err="1">
                <a:solidFill>
                  <a:schemeClr val="tx1"/>
                </a:solidFill>
              </a:rPr>
              <a:t>Ukuran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tetap</a:t>
            </a:r>
            <a:r>
              <a:rPr lang="en-ID" dirty="0">
                <a:solidFill>
                  <a:schemeClr val="tx1"/>
                </a:solidFill>
              </a:rPr>
              <a:t> (pada array "</a:t>
            </a:r>
            <a:r>
              <a:rPr lang="en-ID" dirty="0" err="1">
                <a:solidFill>
                  <a:schemeClr val="tx1"/>
                </a:solidFill>
              </a:rPr>
              <a:t>murni</a:t>
            </a:r>
            <a:r>
              <a:rPr lang="en-ID" dirty="0">
                <a:solidFill>
                  <a:schemeClr val="tx1"/>
                </a:solidFill>
              </a:rPr>
              <a:t>"), </a:t>
            </a:r>
            <a:r>
              <a:rPr lang="en-ID" dirty="0" err="1">
                <a:solidFill>
                  <a:schemeClr val="tx1"/>
                </a:solidFill>
              </a:rPr>
              <a:t>berbeda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dengan</a:t>
            </a:r>
            <a:r>
              <a:rPr lang="en-ID" dirty="0">
                <a:solidFill>
                  <a:schemeClr val="tx1"/>
                </a:solidFill>
              </a:rPr>
              <a:t> list </a:t>
            </a:r>
            <a:r>
              <a:rPr lang="en-ID" dirty="0" err="1">
                <a:solidFill>
                  <a:schemeClr val="tx1"/>
                </a:solidFill>
              </a:rPr>
              <a:t>dinamis</a:t>
            </a:r>
            <a:r>
              <a:rPr lang="en-ID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tx1"/>
                </a:solidFill>
              </a:rPr>
              <a:t>Akses </a:t>
            </a:r>
            <a:r>
              <a:rPr lang="en-ID" b="1" dirty="0" err="1">
                <a:solidFill>
                  <a:schemeClr val="tx1"/>
                </a:solidFill>
              </a:rPr>
              <a:t>acak</a:t>
            </a:r>
            <a:r>
              <a:rPr lang="en-ID" b="1" dirty="0">
                <a:solidFill>
                  <a:schemeClr val="tx1"/>
                </a:solidFill>
              </a:rPr>
              <a:t> (random access)</a:t>
            </a:r>
            <a:r>
              <a:rPr lang="en-ID" dirty="0">
                <a:solidFill>
                  <a:schemeClr val="tx1"/>
                </a:solidFill>
              </a:rPr>
              <a:t> — </a:t>
            </a:r>
            <a:r>
              <a:rPr lang="en-ID" dirty="0" err="1">
                <a:solidFill>
                  <a:schemeClr val="tx1"/>
                </a:solidFill>
              </a:rPr>
              <a:t>elemen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diakses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langsung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lewat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indeks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tanpa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harus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melewati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elemen</a:t>
            </a:r>
            <a:r>
              <a:rPr lang="en-ID" dirty="0">
                <a:solidFill>
                  <a:schemeClr val="tx1"/>
                </a:solidFill>
              </a:rPr>
              <a:t> lain, </a:t>
            </a:r>
            <a:r>
              <a:rPr lang="en-ID" dirty="0" err="1">
                <a:solidFill>
                  <a:schemeClr val="tx1"/>
                </a:solidFill>
              </a:rPr>
              <a:t>dengan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kompleksitas</a:t>
            </a:r>
            <a:r>
              <a:rPr lang="en-ID" dirty="0">
                <a:solidFill>
                  <a:schemeClr val="tx1"/>
                </a:solidFill>
              </a:rPr>
              <a:t> O(1).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b="1" dirty="0" err="1">
                <a:solidFill>
                  <a:schemeClr val="tx1"/>
                </a:solidFill>
              </a:rPr>
              <a:t>Homogen</a:t>
            </a:r>
            <a:r>
              <a:rPr lang="en-ID" dirty="0">
                <a:solidFill>
                  <a:schemeClr val="tx1"/>
                </a:solidFill>
              </a:rPr>
              <a:t> — </a:t>
            </a:r>
            <a:r>
              <a:rPr lang="en-ID" dirty="0" err="1">
                <a:solidFill>
                  <a:schemeClr val="tx1"/>
                </a:solidFill>
              </a:rPr>
              <a:t>seluruh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elemen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memiliki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tipe</a:t>
            </a:r>
            <a:r>
              <a:rPr lang="en-ID" dirty="0">
                <a:solidFill>
                  <a:schemeClr val="tx1"/>
                </a:solidFill>
              </a:rPr>
              <a:t> data yang </a:t>
            </a:r>
            <a:r>
              <a:rPr lang="en-ID" dirty="0" err="1">
                <a:solidFill>
                  <a:schemeClr val="tx1"/>
                </a:solidFill>
              </a:rPr>
              <a:t>sama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sehingga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alokasi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memorinya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efisien</a:t>
            </a:r>
            <a:r>
              <a:rPr lang="en-ID" dirty="0">
                <a:solidFill>
                  <a:schemeClr val="tx1"/>
                </a:solidFill>
              </a:rPr>
              <a:t> dan </a:t>
            </a:r>
            <a:r>
              <a:rPr lang="en-ID" dirty="0" err="1">
                <a:solidFill>
                  <a:schemeClr val="tx1"/>
                </a:solidFill>
              </a:rPr>
              <a:t>seragam</a:t>
            </a:r>
            <a:r>
              <a:rPr lang="en-ID" dirty="0">
                <a:solidFill>
                  <a:schemeClr val="tx1"/>
                </a:solidFill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Indeks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dimulai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dari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0</a:t>
            </a:r>
            <a:r>
              <a:rPr lang="en-ID" dirty="0">
                <a:solidFill>
                  <a:schemeClr val="tx1"/>
                </a:solidFill>
              </a:rPr>
              <a:t> (zero-based indexing), </a:t>
            </a:r>
            <a:r>
              <a:rPr lang="en-ID" dirty="0" err="1">
                <a:solidFill>
                  <a:schemeClr val="tx1"/>
                </a:solidFill>
              </a:rPr>
              <a:t>sama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seperti</a:t>
            </a:r>
            <a:r>
              <a:rPr lang="en-ID" dirty="0">
                <a:solidFill>
                  <a:schemeClr val="tx1"/>
                </a:solidFill>
              </a:rPr>
              <a:t> pada </a:t>
            </a:r>
            <a:r>
              <a:rPr lang="en-ID" dirty="0" err="1">
                <a:solidFill>
                  <a:schemeClr val="tx1"/>
                </a:solidFill>
              </a:rPr>
              <a:t>kebanyakan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bahasa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pemrograman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termasuk</a:t>
            </a:r>
            <a:r>
              <a:rPr lang="en-ID" dirty="0">
                <a:solidFill>
                  <a:schemeClr val="tx1"/>
                </a:solidFill>
              </a:rPr>
              <a:t> Python</a:t>
            </a:r>
            <a:r>
              <a:rPr lang="en-ID" dirty="0"/>
              <a:t>.</a:t>
            </a:r>
          </a:p>
          <a:p>
            <a:endParaRPr lang="en-ID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 Cara </a:t>
            </a:r>
            <a:r>
              <a:rPr lang="en-US" b="1" dirty="0" err="1"/>
              <a:t>Merepresentasikan</a:t>
            </a:r>
            <a:r>
              <a:rPr lang="en-US" b="1" dirty="0"/>
              <a:t> Array </a:t>
            </a:r>
            <a:r>
              <a:rPr lang="en-US" b="1" dirty="0" err="1"/>
              <a:t>dalam</a:t>
            </a:r>
            <a:r>
              <a:rPr lang="en-US" b="1" dirty="0"/>
              <a:t> Python:</a:t>
            </a:r>
            <a:endParaRPr lang="en-ID" b="1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7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3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1" dirty="0" err="1"/>
                        <a:t>Struktur</a:t>
                      </a:r>
                      <a:endParaRPr lang="en-ID" sz="1600" b="1" dirty="0"/>
                    </a:p>
                  </a:txBody>
                  <a:tcPr marL="45057" marR="45057" marT="22529" marB="225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1" dirty="0" err="1"/>
                        <a:t>Tipe</a:t>
                      </a:r>
                      <a:r>
                        <a:rPr lang="en-ID" sz="1600" b="1" dirty="0"/>
                        <a:t> </a:t>
                      </a:r>
                      <a:r>
                        <a:rPr lang="en-ID" sz="1600" b="1" dirty="0" err="1"/>
                        <a:t>elemen</a:t>
                      </a:r>
                      <a:endParaRPr lang="en-ID" sz="1600" b="1" dirty="0"/>
                    </a:p>
                  </a:txBody>
                  <a:tcPr marL="45057" marR="45057" marT="22529" marB="225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1" dirty="0" err="1"/>
                        <a:t>Ukuran</a:t>
                      </a:r>
                      <a:endParaRPr lang="en-ID" sz="1600" b="1" dirty="0"/>
                    </a:p>
                  </a:txBody>
                  <a:tcPr marL="45057" marR="45057" marT="22529" marB="225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1" dirty="0" err="1"/>
                        <a:t>Sumber</a:t>
                      </a:r>
                      <a:endParaRPr lang="en-ID" sz="1600" b="1" dirty="0"/>
                    </a:p>
                  </a:txBody>
                  <a:tcPr marL="45057" marR="45057" marT="22529" marB="22529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86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1" dirty="0"/>
                        <a:t>list</a:t>
                      </a:r>
                    </a:p>
                  </a:txBody>
                  <a:tcPr marL="45057" marR="45057" marT="22529" marB="2252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 err="1"/>
                        <a:t>Heterogen</a:t>
                      </a:r>
                      <a:r>
                        <a:rPr lang="en-ID" sz="1600" dirty="0"/>
                        <a:t> (</a:t>
                      </a:r>
                      <a:r>
                        <a:rPr lang="en-ID" sz="1600" dirty="0" err="1"/>
                        <a:t>bisa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campur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tipe</a:t>
                      </a:r>
                      <a:r>
                        <a:rPr lang="en-ID" sz="1600" dirty="0"/>
                        <a:t>)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 err="1"/>
                        <a:t>Dinamis</a:t>
                      </a:r>
                      <a:endParaRPr lang="en-ID" sz="1600" dirty="0"/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Built-in Python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86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1" dirty="0" err="1"/>
                        <a:t>array.array</a:t>
                      </a:r>
                      <a:endParaRPr lang="en-ID" sz="1600" b="1" dirty="0"/>
                    </a:p>
                  </a:txBody>
                  <a:tcPr marL="45057" marR="45057" marT="22529" marB="2252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Homogen (harus 1 tipe, misal semua int)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 err="1"/>
                        <a:t>Dinamis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tapi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lebih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hemat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memori</a:t>
                      </a:r>
                      <a:endParaRPr lang="en-ID" sz="1600" dirty="0"/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/>
                        <a:t>Modul array (built-in)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86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600" b="1" dirty="0" err="1"/>
                        <a:t>numpy.ndarray</a:t>
                      </a:r>
                      <a:endParaRPr lang="en-ID" sz="1600" b="1" dirty="0"/>
                    </a:p>
                  </a:txBody>
                  <a:tcPr marL="45057" marR="45057" marT="22529" marB="22529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Homogen, mendukung multidimensi native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/>
                        <a:t>Tetap/</a:t>
                      </a:r>
                      <a:r>
                        <a:rPr lang="en-ID" sz="1600" dirty="0" err="1"/>
                        <a:t>dinamis</a:t>
                      </a:r>
                      <a:r>
                        <a:rPr lang="en-ID" sz="1600" dirty="0"/>
                        <a:t>, sangat </a:t>
                      </a:r>
                      <a:r>
                        <a:rPr lang="en-ID" sz="1600" dirty="0" err="1"/>
                        <a:t>efisien</a:t>
                      </a:r>
                      <a:endParaRPr lang="en-ID" sz="1600" dirty="0"/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/>
                        <a:t>Library </a:t>
                      </a:r>
                      <a:r>
                        <a:rPr lang="en-ID" sz="1600" dirty="0" err="1"/>
                        <a:t>numpy</a:t>
                      </a:r>
                      <a:r>
                        <a:rPr lang="en-ID" sz="1600" dirty="0"/>
                        <a:t> (</a:t>
                      </a:r>
                      <a:r>
                        <a:rPr lang="en-ID" sz="1600" dirty="0" err="1"/>
                        <a:t>eksternal</a:t>
                      </a:r>
                      <a:r>
                        <a:rPr lang="en-ID" sz="1600" dirty="0"/>
                        <a:t>)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Content Placeholder 10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1825625"/>
            <a:ext cx="5181600" cy="29896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Array 1D</a:t>
            </a:r>
            <a:endParaRPr lang="en-ID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Konsep</a:t>
            </a:r>
            <a:r>
              <a:rPr lang="en-US" dirty="0">
                <a:solidFill>
                  <a:schemeClr val="tx1"/>
                </a:solidFill>
              </a:rPr>
              <a:t> &amp; </a:t>
            </a:r>
            <a:r>
              <a:rPr lang="en-US" dirty="0" err="1">
                <a:solidFill>
                  <a:schemeClr val="tx1"/>
                </a:solidFill>
              </a:rPr>
              <a:t>Implementasi</a:t>
            </a:r>
            <a:endParaRPr lang="en-ID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Konsep</a:t>
            </a:r>
            <a:endParaRPr lang="en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Array 1D </a:t>
            </a:r>
            <a:r>
              <a:rPr lang="en-ID" dirty="0" err="1"/>
              <a:t>adalah</a:t>
            </a:r>
            <a:r>
              <a:rPr lang="en-ID" dirty="0"/>
              <a:t> array paling </a:t>
            </a:r>
            <a:r>
              <a:rPr lang="en-ID" dirty="0" err="1"/>
              <a:t>sederhana</a:t>
            </a:r>
            <a:r>
              <a:rPr lang="en-ID" dirty="0"/>
              <a:t> —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b="1" dirty="0" err="1"/>
              <a:t>barisan</a:t>
            </a:r>
            <a:r>
              <a:rPr lang="en-ID" b="1" dirty="0"/>
              <a:t> </a:t>
            </a:r>
            <a:r>
              <a:rPr lang="en-ID" b="1" dirty="0" err="1"/>
              <a:t>elemen</a:t>
            </a:r>
            <a:r>
              <a:rPr lang="en-ID" b="1" dirty="0"/>
              <a:t> linear</a:t>
            </a:r>
            <a:r>
              <a:rPr lang="en-ID" dirty="0"/>
              <a:t> yang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indeks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dirty="0" err="1"/>
              <a:t>Ilustrasi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: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4" name="Picture 3" descr="KonsepArray1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41090"/>
            <a:ext cx="60198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List 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/>
              <a:t>Fungsi range memungkinkan kita membuat urutan bilangan bulat dengan kenaikan tertentu.</a:t>
            </a: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Sedangkan List Comprehension dalam Python dapat digunakan untuk membuat urutan/list yang lebih beragam.</a:t>
            </a: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Dengan kata lain</a:t>
            </a:r>
          </a:p>
          <a:p>
            <a:pPr marL="0" indent="0">
              <a:buNone/>
            </a:pPr>
            <a:r>
              <a:rPr lang="en-US" altLang="en-US"/>
              <a:t>List Comprehension adalah cara singkat untuk membuat sebuah list menggunakan perulangan dalam satu baris.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4660"/>
          </a:xfrm>
        </p:spPr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List Comprehensions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172377"/>
            <a:ext cx="10515600" cy="4779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48665"/>
            <a:ext cx="10343515" cy="51263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597400" cy="1325563"/>
          </a:xfrm>
        </p:spPr>
        <p:txBody>
          <a:bodyPr/>
          <a:lstStyle/>
          <a:p>
            <a:r>
              <a:rPr lang="en-US" b="1" dirty="0" err="1"/>
              <a:t>Implementasi</a:t>
            </a:r>
            <a:endParaRPr lang="en-ID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24500" y="365125"/>
            <a:ext cx="5829300" cy="60027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Array 2D</a:t>
            </a:r>
            <a:endParaRPr lang="en-ID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Konsep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Implementasi</a:t>
            </a:r>
            <a:r>
              <a:rPr lang="en-US" dirty="0">
                <a:solidFill>
                  <a:schemeClr val="tx1"/>
                </a:solidFill>
              </a:rPr>
              <a:t>, &amp; </a:t>
            </a:r>
            <a:r>
              <a:rPr lang="en-US" dirty="0" err="1">
                <a:solidFill>
                  <a:schemeClr val="tx1"/>
                </a:solidFill>
              </a:rPr>
              <a:t>Membuat</a:t>
            </a:r>
            <a:r>
              <a:rPr lang="en-US" dirty="0">
                <a:solidFill>
                  <a:schemeClr val="tx1"/>
                </a:solidFill>
              </a:rPr>
              <a:t> Array 2D</a:t>
            </a:r>
            <a:endParaRPr lang="en-ID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Konsep</a:t>
            </a:r>
            <a:endParaRPr lang="en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Array 2D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/>
              <a:t>array di </a:t>
            </a:r>
            <a:r>
              <a:rPr lang="en-ID" b="1" dirty="0" err="1"/>
              <a:t>dalam</a:t>
            </a:r>
            <a:r>
              <a:rPr lang="en-ID" b="1" dirty="0"/>
              <a:t> array</a:t>
            </a:r>
            <a:r>
              <a:rPr lang="en-ID" dirty="0"/>
              <a:t> —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dibayangkan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b="1" dirty="0"/>
              <a:t>baris (row)</a:t>
            </a:r>
            <a:r>
              <a:rPr lang="en-ID" dirty="0"/>
              <a:t> dan </a:t>
            </a:r>
            <a:r>
              <a:rPr lang="en-ID" b="1" dirty="0" err="1"/>
              <a:t>kolom</a:t>
            </a:r>
            <a:r>
              <a:rPr lang="en-ID" b="1" dirty="0"/>
              <a:t> (column)</a:t>
            </a:r>
            <a:r>
              <a:rPr lang="en-ID" dirty="0"/>
              <a:t>. </a:t>
            </a:r>
            <a:r>
              <a:rPr lang="en-ID" dirty="0" err="1"/>
              <a:t>Elemen</a:t>
            </a:r>
            <a:r>
              <a:rPr lang="en-ID" dirty="0"/>
              <a:t> </a:t>
            </a:r>
            <a:r>
              <a:rPr lang="en-ID" dirty="0" err="1"/>
              <a:t>diakses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dua </a:t>
            </a:r>
            <a:r>
              <a:rPr lang="en-ID" dirty="0" err="1"/>
              <a:t>indeks</a:t>
            </a:r>
            <a:r>
              <a:rPr lang="en-ID" dirty="0"/>
              <a:t>: </a:t>
            </a:r>
            <a:r>
              <a:rPr lang="en-ID" sz="2400" dirty="0" err="1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arr</a:t>
            </a:r>
            <a:r>
              <a:rPr lang="en-ID" sz="240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[baris][</a:t>
            </a:r>
            <a:r>
              <a:rPr lang="en-ID" sz="2400" dirty="0" err="1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kolom</a:t>
            </a:r>
            <a:r>
              <a:rPr lang="en-ID" sz="2400" dirty="0">
                <a:highlight>
                  <a:srgbClr val="C0C0C0"/>
                </a:highligh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].</a:t>
            </a:r>
          </a:p>
          <a:p>
            <a:pPr marL="0" indent="0">
              <a:buNone/>
            </a:pPr>
            <a:r>
              <a:rPr lang="en-ID" dirty="0" err="1">
                <a:ea typeface="Cascadia Code" panose="020B0609020000020004" pitchFamily="49" charset="0"/>
                <a:cs typeface="Cascadia Code" panose="020B0609020000020004" pitchFamily="49" charset="0"/>
              </a:rPr>
              <a:t>Ilustrasi</a:t>
            </a:r>
            <a:r>
              <a:rPr lang="en-ID" dirty="0"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</a:p>
          <a:p>
            <a:pPr marL="0" indent="0">
              <a:buNone/>
            </a:pPr>
            <a:endParaRPr lang="en-ID" dirty="0"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7600"/>
            <a:ext cx="6172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</p:spPr>
        <p:txBody>
          <a:bodyPr/>
          <a:lstStyle/>
          <a:p>
            <a:r>
              <a:rPr lang="en-US" b="1" dirty="0"/>
              <a:t>Nested Lists (List </a:t>
            </a:r>
            <a:r>
              <a:rPr lang="en-US" b="1" dirty="0" err="1"/>
              <a:t>Bersarang</a:t>
            </a:r>
            <a:r>
              <a:rPr lang="en-US" b="1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altLang="en-US" dirty="0"/>
              <a:t>List </a:t>
            </a:r>
            <a:r>
              <a:rPr lang="en-US" altLang="en-US" dirty="0" err="1"/>
              <a:t>dapat</a:t>
            </a:r>
            <a:r>
              <a:rPr lang="en-US" altLang="en-US" dirty="0"/>
              <a:t> </a:t>
            </a:r>
            <a:r>
              <a:rPr lang="en-US" altLang="en-US" dirty="0" err="1"/>
              <a:t>berisi</a:t>
            </a:r>
            <a:r>
              <a:rPr lang="en-US" altLang="en-US" dirty="0"/>
              <a:t> </a:t>
            </a:r>
            <a:r>
              <a:rPr lang="en-US" altLang="en-US" dirty="0" err="1"/>
              <a:t>elemen</a:t>
            </a:r>
            <a:r>
              <a:rPr lang="en-US" altLang="en-US" dirty="0"/>
              <a:t> </a:t>
            </a:r>
            <a:r>
              <a:rPr lang="en-US" altLang="en-US" dirty="0" err="1"/>
              <a:t>dari</a:t>
            </a:r>
            <a:r>
              <a:rPr lang="en-US" altLang="en-US" dirty="0"/>
              <a:t> </a:t>
            </a:r>
            <a:r>
              <a:rPr lang="en-US" altLang="en-US" dirty="0" err="1"/>
              <a:t>berbagai</a:t>
            </a:r>
            <a:r>
              <a:rPr lang="en-US" altLang="en-US" dirty="0"/>
              <a:t> </a:t>
            </a:r>
            <a:r>
              <a:rPr lang="en-US" altLang="en-US" dirty="0" err="1"/>
              <a:t>jenis</a:t>
            </a:r>
            <a:r>
              <a:rPr lang="en-US" altLang="en-US" dirty="0"/>
              <a:t>, </a:t>
            </a:r>
            <a:r>
              <a:rPr lang="en-US" altLang="en-US" dirty="0" err="1"/>
              <a:t>termasuk</a:t>
            </a:r>
            <a:r>
              <a:rPr lang="en-US" altLang="en-US" dirty="0"/>
              <a:t> sequence (</a:t>
            </a:r>
            <a:r>
              <a:rPr lang="en-US" altLang="en-US" dirty="0" err="1"/>
              <a:t>urutan</a:t>
            </a:r>
            <a:r>
              <a:rPr lang="en-US" altLang="en-US" dirty="0"/>
              <a:t>/data lain). oleh </a:t>
            </a:r>
            <a:r>
              <a:rPr lang="en-US" altLang="en-US" dirty="0" err="1"/>
              <a:t>karena</a:t>
            </a:r>
            <a:r>
              <a:rPr lang="en-US" altLang="en-US" dirty="0"/>
              <a:t> </a:t>
            </a:r>
            <a:r>
              <a:rPr lang="en-US" altLang="en-US" dirty="0" err="1"/>
              <a:t>itu</a:t>
            </a:r>
            <a:r>
              <a:rPr lang="en-US" altLang="en-US" dirty="0"/>
              <a:t>, list </a:t>
            </a:r>
            <a:r>
              <a:rPr lang="en-US" altLang="en-US" dirty="0" err="1"/>
              <a:t>dapat</a:t>
            </a:r>
            <a:r>
              <a:rPr lang="en-US" altLang="en-US" dirty="0"/>
              <a:t> </a:t>
            </a:r>
            <a:r>
              <a:rPr lang="en-US" altLang="en-US" dirty="0" err="1"/>
              <a:t>dibuat</a:t>
            </a:r>
            <a:r>
              <a:rPr lang="en-US" altLang="en-US" dirty="0"/>
              <a:t> </a:t>
            </a:r>
            <a:r>
              <a:rPr lang="en-US" altLang="en-US" dirty="0" err="1"/>
              <a:t>bersarang</a:t>
            </a:r>
            <a:r>
              <a:rPr lang="en-US" altLang="en-US" dirty="0"/>
              <a:t> (nested)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membentuk</a:t>
            </a:r>
            <a:r>
              <a:rPr lang="en-US" altLang="en-US" dirty="0"/>
              <a:t> </a:t>
            </a:r>
            <a:r>
              <a:rPr lang="en-US" altLang="en-US" dirty="0" err="1"/>
              <a:t>struktur</a:t>
            </a:r>
            <a:r>
              <a:rPr lang="en-US" altLang="en-US" dirty="0"/>
              <a:t> data yang </a:t>
            </a:r>
            <a:r>
              <a:rPr lang="en-US" altLang="en-US" dirty="0" err="1"/>
              <a:t>kompleks</a:t>
            </a:r>
            <a:r>
              <a:rPr lang="en-US" altLang="en-US" dirty="0"/>
              <a:t>.</a:t>
            </a:r>
          </a:p>
          <a:p>
            <a:pPr marL="0" indent="0">
              <a:buNone/>
            </a:pPr>
            <a:r>
              <a:rPr lang="en-US" altLang="en-US" b="1" dirty="0" err="1">
                <a:sym typeface="+mn-ea"/>
              </a:rPr>
              <a:t>class_grades</a:t>
            </a:r>
            <a:r>
              <a:rPr lang="en-US" altLang="en-US" b="1" dirty="0">
                <a:sym typeface="+mn-ea"/>
              </a:rPr>
              <a:t> = [[</a:t>
            </a:r>
            <a:r>
              <a:rPr lang="en-US" altLang="en-US" b="1" dirty="0">
                <a:highlight>
                  <a:srgbClr val="FFFF00"/>
                </a:highlight>
                <a:sym typeface="+mn-ea"/>
              </a:rPr>
              <a:t>85, 91, 89</a:t>
            </a:r>
            <a:r>
              <a:rPr lang="en-US" altLang="en-US" b="1" dirty="0">
                <a:sym typeface="+mn-ea"/>
              </a:rPr>
              <a:t>], [</a:t>
            </a:r>
            <a:r>
              <a:rPr lang="en-US" altLang="en-US" b="1" dirty="0">
                <a:highlight>
                  <a:srgbClr val="00FFFF"/>
                </a:highlight>
                <a:sym typeface="+mn-ea"/>
              </a:rPr>
              <a:t>78, 81, 86</a:t>
            </a:r>
            <a:r>
              <a:rPr lang="en-US" altLang="en-US" b="1" dirty="0">
                <a:sym typeface="+mn-ea"/>
              </a:rPr>
              <a:t>], ...]</a:t>
            </a:r>
            <a:endParaRPr lang="en-US" altLang="en-US" b="1" dirty="0"/>
          </a:p>
          <a:p>
            <a:pPr marL="0" indent="0">
              <a:buNone/>
            </a:pPr>
            <a:r>
              <a:rPr lang="en-US" altLang="en-US" dirty="0">
                <a:sym typeface="+mn-ea"/>
              </a:rPr>
              <a:t>List </a:t>
            </a:r>
            <a:r>
              <a:rPr lang="en-US" altLang="en-US" dirty="0" err="1">
                <a:sym typeface="+mn-ea"/>
              </a:rPr>
              <a:t>ini</a:t>
            </a:r>
            <a:r>
              <a:rPr lang="en-US" altLang="en-US" dirty="0">
                <a:sym typeface="+mn-ea"/>
              </a:rPr>
              <a:t> </a:t>
            </a:r>
            <a:r>
              <a:rPr lang="en-US" altLang="en-US" dirty="0" err="1">
                <a:sym typeface="+mn-ea"/>
              </a:rPr>
              <a:t>menyimpan</a:t>
            </a:r>
            <a:r>
              <a:rPr lang="en-US" altLang="en-US" dirty="0">
                <a:sym typeface="+mn-ea"/>
              </a:rPr>
              <a:t> 2 </a:t>
            </a:r>
            <a:r>
              <a:rPr lang="en-US" altLang="en-US" dirty="0" err="1">
                <a:sym typeface="+mn-ea"/>
              </a:rPr>
              <a:t>nilai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b="1" dirty="0" err="1">
                <a:sym typeface="+mn-ea"/>
              </a:rPr>
              <a:t>class_grades</a:t>
            </a:r>
            <a:r>
              <a:rPr lang="en-US" altLang="en-US" b="1" dirty="0">
                <a:sym typeface="+mn-ea"/>
              </a:rPr>
              <a:t>[0] = [85, 91, 89]</a:t>
            </a:r>
            <a:endParaRPr lang="en-US" altLang="en-US" b="1" dirty="0"/>
          </a:p>
          <a:p>
            <a:pPr marL="0" indent="0">
              <a:buNone/>
            </a:pPr>
            <a:r>
              <a:rPr lang="en-US" altLang="en-US" b="1" dirty="0" err="1">
                <a:sym typeface="+mn-ea"/>
              </a:rPr>
              <a:t>class_grades</a:t>
            </a:r>
            <a:r>
              <a:rPr lang="en-US" altLang="en-US" b="1" dirty="0">
                <a:sym typeface="+mn-ea"/>
              </a:rPr>
              <a:t>[1] = [78, 81, 86] </a:t>
            </a:r>
          </a:p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dirty="0">
                <a:sym typeface="+mn-ea"/>
              </a:rPr>
              <a:t>Jadi </a:t>
            </a:r>
            <a:r>
              <a:rPr lang="en-US" altLang="en-US" dirty="0" err="1">
                <a:sym typeface="+mn-ea"/>
              </a:rPr>
              <a:t>class_grades</a:t>
            </a:r>
            <a:r>
              <a:rPr lang="en-US" altLang="en-US" dirty="0">
                <a:sym typeface="+mn-ea"/>
              </a:rPr>
              <a:t>[0] </a:t>
            </a:r>
            <a:r>
              <a:rPr lang="en-US" altLang="en-US" dirty="0" err="1">
                <a:sym typeface="+mn-ea"/>
              </a:rPr>
              <a:t>itu</a:t>
            </a:r>
            <a:r>
              <a:rPr lang="en-US" altLang="en-US" dirty="0">
                <a:sym typeface="+mn-ea"/>
              </a:rPr>
              <a:t> </a:t>
            </a:r>
            <a:r>
              <a:rPr lang="en-US" altLang="en-US" dirty="0" err="1">
                <a:sym typeface="+mn-ea"/>
              </a:rPr>
              <a:t>bisa</a:t>
            </a:r>
            <a:r>
              <a:rPr lang="en-US" altLang="en-US" dirty="0">
                <a:sym typeface="+mn-ea"/>
              </a:rPr>
              <a:t> </a:t>
            </a:r>
            <a:r>
              <a:rPr lang="en-US" altLang="en-US" dirty="0" err="1">
                <a:sym typeface="+mn-ea"/>
              </a:rPr>
              <a:t>dibillang</a:t>
            </a:r>
            <a:r>
              <a:rPr lang="en-US" altLang="en-US" dirty="0">
                <a:sym typeface="+mn-ea"/>
              </a:rPr>
              <a:t> </a:t>
            </a:r>
            <a:r>
              <a:rPr lang="en-US" altLang="en-US" dirty="0" err="1">
                <a:sym typeface="+mn-ea"/>
              </a:rPr>
              <a:t>milik</a:t>
            </a:r>
            <a:r>
              <a:rPr lang="en-US" altLang="en-US" dirty="0">
                <a:sym typeface="+mn-ea"/>
              </a:rPr>
              <a:t> </a:t>
            </a:r>
            <a:r>
              <a:rPr lang="en-US" altLang="en-US" dirty="0" err="1">
                <a:sym typeface="+mn-ea"/>
              </a:rPr>
              <a:t>mahasiswa</a:t>
            </a:r>
            <a:r>
              <a:rPr lang="en-US" altLang="en-US" dirty="0">
                <a:sym typeface="+mn-ea"/>
              </a:rPr>
              <a:t> 1 dan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 err="1">
                <a:sym typeface="+mn-ea"/>
              </a:rPr>
              <a:t>class_grades</a:t>
            </a:r>
            <a:r>
              <a:rPr lang="en-US" altLang="en-US" dirty="0">
                <a:sym typeface="+mn-ea"/>
              </a:rPr>
              <a:t>[1] </a:t>
            </a:r>
            <a:r>
              <a:rPr lang="en-US" altLang="en-US" dirty="0" err="1">
                <a:sym typeface="+mn-ea"/>
              </a:rPr>
              <a:t>itu</a:t>
            </a:r>
            <a:r>
              <a:rPr lang="en-US" altLang="en-US" dirty="0">
                <a:sym typeface="+mn-ea"/>
              </a:rPr>
              <a:t> </a:t>
            </a:r>
            <a:r>
              <a:rPr lang="en-US" altLang="en-US" dirty="0" err="1">
                <a:sym typeface="+mn-ea"/>
              </a:rPr>
              <a:t>milik</a:t>
            </a:r>
            <a:r>
              <a:rPr lang="en-US" altLang="en-US" dirty="0">
                <a:sym typeface="+mn-ea"/>
              </a:rPr>
              <a:t> </a:t>
            </a:r>
            <a:r>
              <a:rPr lang="en-US" altLang="en-US" dirty="0" err="1">
                <a:sym typeface="+mn-ea"/>
              </a:rPr>
              <a:t>mahasiswa</a:t>
            </a:r>
            <a:r>
              <a:rPr lang="en-US" altLang="en-US" dirty="0">
                <a:sym typeface="+mn-ea"/>
              </a:rPr>
              <a:t> 2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Mengakses nilai ujian pertama siswa pertama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student1_grades = </a:t>
            </a:r>
            <a:r>
              <a:rPr lang="en-US" b="1" dirty="0" err="1"/>
              <a:t>class_grades</a:t>
            </a:r>
            <a:r>
              <a:rPr lang="en-US" b="1" dirty="0"/>
              <a:t>[0]          [85, 91, 89] </a:t>
            </a:r>
          </a:p>
          <a:p>
            <a:pPr marL="0" indent="0">
              <a:buNone/>
            </a:pPr>
            <a:r>
              <a:rPr lang="en-US" b="1" dirty="0"/>
              <a:t>student1_exam1 = </a:t>
            </a:r>
            <a:r>
              <a:rPr lang="en-US" b="1" dirty="0" err="1"/>
              <a:t>class_grades</a:t>
            </a:r>
            <a:r>
              <a:rPr lang="en-US" b="1" dirty="0"/>
              <a:t>[0][0]          85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ight Arrow 4"/>
          <p:cNvSpPr/>
          <p:nvPr/>
        </p:nvSpPr>
        <p:spPr>
          <a:xfrm>
            <a:off x="6096000" y="1904343"/>
            <a:ext cx="594995" cy="2971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6493328" y="2417581"/>
            <a:ext cx="594995" cy="2971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>
            <a:normAutofit/>
          </a:bodyPr>
          <a:lstStyle/>
          <a:p>
            <a:r>
              <a:rPr lang="en-US" sz="4400" b="1" dirty="0" err="1"/>
              <a:t>Implementasi</a:t>
            </a:r>
            <a:endParaRPr lang="en-ID" sz="4400" b="1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" b="473"/>
          <a:stretch>
            <a:fillRect/>
          </a:stretch>
        </p:blipFill>
        <p:spPr>
          <a:xfrm>
            <a:off x="5183188" y="995892"/>
            <a:ext cx="6172200" cy="4873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Membuat</a:t>
            </a:r>
            <a:r>
              <a:rPr lang="en-US" b="1" dirty="0"/>
              <a:t> Array 2D</a:t>
            </a:r>
            <a:endParaRPr lang="en-ID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4900" y="1905794"/>
            <a:ext cx="99822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Penggunaan</a:t>
            </a:r>
            <a:r>
              <a:rPr lang="en-US" b="1" dirty="0"/>
              <a:t> Array </a:t>
            </a:r>
            <a:r>
              <a:rPr lang="en-US" b="1" dirty="0" err="1"/>
              <a:t>Untuk</a:t>
            </a:r>
            <a:r>
              <a:rPr lang="en-US" b="1" dirty="0"/>
              <a:t> </a:t>
            </a:r>
            <a:r>
              <a:rPr lang="en-US" b="1" dirty="0" err="1"/>
              <a:t>Matriks</a:t>
            </a:r>
            <a:endParaRPr lang="en-ID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Penjumlahan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pengurangan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perkalian</a:t>
            </a:r>
            <a:endParaRPr lang="en-ID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Operasi</a:t>
            </a:r>
            <a:r>
              <a:rPr lang="en-US" b="1" dirty="0"/>
              <a:t> </a:t>
            </a:r>
            <a:r>
              <a:rPr lang="en-US" b="1" dirty="0" err="1"/>
              <a:t>Matriks</a:t>
            </a:r>
            <a:endParaRPr lang="en-ID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Penjumlahan</a:t>
            </a:r>
            <a:endParaRPr lang="en-ID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Perkalian</a:t>
            </a:r>
            <a:endParaRPr lang="en-US" dirty="0"/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7" y="2611156"/>
            <a:ext cx="5160001" cy="3684588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11156"/>
            <a:ext cx="5157787" cy="34724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Operasi</a:t>
            </a:r>
            <a:r>
              <a:rPr lang="en-US" b="1" dirty="0"/>
              <a:t> </a:t>
            </a:r>
            <a:r>
              <a:rPr lang="en-US" b="1" dirty="0" err="1"/>
              <a:t>Matriks</a:t>
            </a:r>
            <a:r>
              <a:rPr lang="en-US" b="1" dirty="0"/>
              <a:t> (2)</a:t>
            </a:r>
            <a:endParaRPr lang="en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Transpose</a:t>
            </a:r>
            <a:endParaRPr lang="en-ID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2357438"/>
            <a:ext cx="8811106" cy="38195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2650" y="790575"/>
            <a:ext cx="3365500" cy="1325563"/>
          </a:xfrm>
        </p:spPr>
        <p:txBody>
          <a:bodyPr/>
          <a:lstStyle/>
          <a:p>
            <a:r>
              <a:rPr lang="en-US" b="1" dirty="0" err="1"/>
              <a:t>Operasi</a:t>
            </a:r>
            <a:r>
              <a:rPr lang="en-US" b="1" dirty="0"/>
              <a:t> </a:t>
            </a:r>
            <a:r>
              <a:rPr lang="en-US" b="1" dirty="0" err="1"/>
              <a:t>Matriks</a:t>
            </a:r>
            <a:r>
              <a:rPr lang="en-US" b="1" dirty="0"/>
              <a:t> (3)</a:t>
            </a:r>
            <a:endParaRPr lang="en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86000"/>
            <a:ext cx="3454400" cy="3781425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Menggunakan</a:t>
            </a:r>
            <a:r>
              <a:rPr lang="en-US" b="1" dirty="0"/>
              <a:t> Library </a:t>
            </a:r>
            <a:r>
              <a:rPr lang="en-US" b="1" dirty="0" err="1"/>
              <a:t>Numpy</a:t>
            </a:r>
            <a:endParaRPr lang="en-US" b="1" dirty="0"/>
          </a:p>
          <a:p>
            <a:pPr marL="0" indent="0">
              <a:buNone/>
            </a:pPr>
            <a:endParaRPr lang="en-ID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575" y="790575"/>
            <a:ext cx="7181850" cy="5276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Studi </a:t>
            </a:r>
            <a:r>
              <a:rPr lang="en-US" b="1" dirty="0" err="1"/>
              <a:t>Kasus</a:t>
            </a:r>
            <a:endParaRPr lang="en-ID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Memecahkan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masalah</a:t>
            </a:r>
            <a:endParaRPr lang="en-ID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68351"/>
            <a:ext cx="10515600" cy="857249"/>
          </a:xfrm>
        </p:spPr>
        <p:txBody>
          <a:bodyPr>
            <a:normAutofit/>
          </a:bodyPr>
          <a:lstStyle/>
          <a:p>
            <a:r>
              <a:rPr lang="en-ID" sz="4400" b="1" dirty="0" err="1"/>
              <a:t>Sistem</a:t>
            </a:r>
            <a:r>
              <a:rPr lang="en-ID" sz="4400" b="1" dirty="0"/>
              <a:t> Monitoring Performa Server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714501"/>
            <a:ext cx="10515600" cy="4375150"/>
          </a:xfrm>
        </p:spPr>
        <p:txBody>
          <a:bodyPr>
            <a:normAutofit lnSpcReduction="10000"/>
          </a:bodyPr>
          <a:lstStyle/>
          <a:p>
            <a:r>
              <a:rPr lang="en-ID" b="1" dirty="0" err="1">
                <a:solidFill>
                  <a:schemeClr val="tx1"/>
                </a:solidFill>
              </a:rPr>
              <a:t>Sebuah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perusahaan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memiliki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beberapa</a:t>
            </a:r>
            <a:r>
              <a:rPr lang="en-ID" b="1" dirty="0">
                <a:solidFill>
                  <a:schemeClr val="tx1"/>
                </a:solidFill>
              </a:rPr>
              <a:t> server yang </a:t>
            </a:r>
            <a:r>
              <a:rPr lang="en-ID" b="1" dirty="0" err="1">
                <a:solidFill>
                  <a:schemeClr val="tx1"/>
                </a:solidFill>
              </a:rPr>
              <a:t>digunakan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untuk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menjalankan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aplikasi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secara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bersamaan</a:t>
            </a:r>
            <a:r>
              <a:rPr lang="en-ID" b="1" dirty="0">
                <a:solidFill>
                  <a:schemeClr val="tx1"/>
                </a:solidFill>
              </a:rPr>
              <a:t>. </a:t>
            </a:r>
            <a:r>
              <a:rPr lang="en-ID" b="1" dirty="0" err="1">
                <a:solidFill>
                  <a:schemeClr val="tx1"/>
                </a:solidFill>
              </a:rPr>
              <a:t>Untuk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memastikan</a:t>
            </a:r>
            <a:r>
              <a:rPr lang="en-ID" b="1" dirty="0">
                <a:solidFill>
                  <a:schemeClr val="tx1"/>
                </a:solidFill>
              </a:rPr>
              <a:t> server </a:t>
            </a:r>
            <a:r>
              <a:rPr lang="en-ID" b="1" dirty="0" err="1">
                <a:solidFill>
                  <a:schemeClr val="tx1"/>
                </a:solidFill>
              </a:rPr>
              <a:t>tetap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berjalan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dengan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baik</a:t>
            </a:r>
            <a:r>
              <a:rPr lang="en-ID" b="1" dirty="0">
                <a:solidFill>
                  <a:schemeClr val="tx1"/>
                </a:solidFill>
              </a:rPr>
              <a:t>, </a:t>
            </a:r>
            <a:r>
              <a:rPr lang="en-ID" b="1" dirty="0" err="1">
                <a:solidFill>
                  <a:schemeClr val="tx1"/>
                </a:solidFill>
              </a:rPr>
              <a:t>tim</a:t>
            </a:r>
            <a:r>
              <a:rPr lang="en-ID" b="1" dirty="0">
                <a:solidFill>
                  <a:schemeClr val="tx1"/>
                </a:solidFill>
              </a:rPr>
              <a:t> IT </a:t>
            </a:r>
            <a:r>
              <a:rPr lang="en-ID" b="1" dirty="0" err="1">
                <a:solidFill>
                  <a:schemeClr val="tx1"/>
                </a:solidFill>
              </a:rPr>
              <a:t>melakukan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pemantauan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penggunaan</a:t>
            </a:r>
            <a:r>
              <a:rPr lang="en-ID" b="1" dirty="0">
                <a:solidFill>
                  <a:schemeClr val="tx1"/>
                </a:solidFill>
              </a:rPr>
              <a:t> CPU </a:t>
            </a:r>
            <a:r>
              <a:rPr lang="en-ID" b="1" dirty="0" err="1">
                <a:solidFill>
                  <a:schemeClr val="tx1"/>
                </a:solidFill>
              </a:rPr>
              <a:t>setiap</a:t>
            </a:r>
            <a:r>
              <a:rPr lang="en-ID" b="1" dirty="0">
                <a:solidFill>
                  <a:schemeClr val="tx1"/>
                </a:solidFill>
              </a:rPr>
              <a:t> jam.</a:t>
            </a:r>
            <a:endParaRPr lang="en-ID" dirty="0">
              <a:solidFill>
                <a:schemeClr val="tx1"/>
              </a:solidFill>
            </a:endParaRPr>
          </a:p>
          <a:p>
            <a:r>
              <a:rPr lang="en-ID" dirty="0" err="1">
                <a:solidFill>
                  <a:schemeClr val="tx1"/>
                </a:solidFill>
              </a:rPr>
              <a:t>Dalam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satu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periode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pemantauan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terdapat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4 server</a:t>
            </a:r>
            <a:r>
              <a:rPr lang="en-ID" dirty="0">
                <a:solidFill>
                  <a:schemeClr val="tx1"/>
                </a:solidFill>
              </a:rPr>
              <a:t> yang masing-masing </a:t>
            </a:r>
            <a:r>
              <a:rPr lang="en-ID" dirty="0" err="1">
                <a:solidFill>
                  <a:schemeClr val="tx1"/>
                </a:solidFill>
              </a:rPr>
              <a:t>dipantau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selama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5 </a:t>
            </a:r>
            <a:r>
              <a:rPr lang="en-ID" b="1" dirty="0" err="1">
                <a:solidFill>
                  <a:schemeClr val="tx1"/>
                </a:solidFill>
              </a:rPr>
              <a:t>waktu</a:t>
            </a:r>
            <a:r>
              <a:rPr lang="en-ID" dirty="0">
                <a:solidFill>
                  <a:schemeClr val="tx1"/>
                </a:solidFill>
              </a:rPr>
              <a:t>. Data </a:t>
            </a:r>
            <a:r>
              <a:rPr lang="en-ID" dirty="0" err="1">
                <a:solidFill>
                  <a:schemeClr val="tx1"/>
                </a:solidFill>
              </a:rPr>
              <a:t>penggunaan</a:t>
            </a:r>
            <a:r>
              <a:rPr lang="en-ID" dirty="0">
                <a:solidFill>
                  <a:schemeClr val="tx1"/>
                </a:solidFill>
              </a:rPr>
              <a:t> CPU (%) </a:t>
            </a:r>
            <a:r>
              <a:rPr lang="en-ID" dirty="0" err="1">
                <a:solidFill>
                  <a:schemeClr val="tx1"/>
                </a:solidFill>
              </a:rPr>
              <a:t>dari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setiap</a:t>
            </a:r>
            <a:r>
              <a:rPr lang="en-ID" dirty="0">
                <a:solidFill>
                  <a:schemeClr val="tx1"/>
                </a:solidFill>
              </a:rPr>
              <a:t> server </a:t>
            </a:r>
            <a:r>
              <a:rPr lang="en-ID" dirty="0" err="1">
                <a:solidFill>
                  <a:schemeClr val="tx1"/>
                </a:solidFill>
              </a:rPr>
              <a:t>disimpan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dalam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sebuah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array 2 </a:t>
            </a:r>
            <a:r>
              <a:rPr lang="en-ID" b="1" dirty="0" err="1">
                <a:solidFill>
                  <a:schemeClr val="tx1"/>
                </a:solidFill>
              </a:rPr>
              <a:t>dimensi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dengan</a:t>
            </a:r>
            <a:r>
              <a:rPr lang="en-ID" dirty="0">
                <a:solidFill>
                  <a:schemeClr val="tx1"/>
                </a:solidFill>
              </a:rPr>
              <a:t> baris </a:t>
            </a:r>
            <a:r>
              <a:rPr lang="en-ID" dirty="0" err="1">
                <a:solidFill>
                  <a:schemeClr val="tx1"/>
                </a:solidFill>
              </a:rPr>
              <a:t>merepresentasikan</a:t>
            </a:r>
            <a:r>
              <a:rPr lang="en-ID" dirty="0">
                <a:solidFill>
                  <a:schemeClr val="tx1"/>
                </a:solidFill>
              </a:rPr>
              <a:t> server dan </a:t>
            </a:r>
            <a:r>
              <a:rPr lang="en-ID" dirty="0" err="1">
                <a:solidFill>
                  <a:schemeClr val="tx1"/>
                </a:solidFill>
              </a:rPr>
              <a:t>kolom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merepresentasikan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waktu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pemantauan</a:t>
            </a:r>
            <a:r>
              <a:rPr lang="en-ID" dirty="0">
                <a:solidFill>
                  <a:schemeClr val="tx1"/>
                </a:solidFill>
              </a:rPr>
              <a:t>.</a:t>
            </a:r>
          </a:p>
          <a:p>
            <a:r>
              <a:rPr lang="en-ID" dirty="0">
                <a:solidFill>
                  <a:schemeClr val="tx1"/>
                </a:solidFill>
              </a:rPr>
              <a:t>Data yang </a:t>
            </a:r>
            <a:r>
              <a:rPr lang="en-ID" dirty="0" err="1">
                <a:solidFill>
                  <a:schemeClr val="tx1"/>
                </a:solidFill>
              </a:rPr>
              <a:t>diperoleh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adalah</a:t>
            </a:r>
            <a:r>
              <a:rPr lang="en-ID" dirty="0">
                <a:solidFill>
                  <a:schemeClr val="tx1"/>
                </a:solidFill>
              </a:rPr>
              <a:t>:</a:t>
            </a:r>
          </a:p>
          <a:p>
            <a:r>
              <a:rPr lang="en-ID" dirty="0">
                <a:solidFill>
                  <a:schemeClr val="tx1"/>
                </a:solidFill>
              </a:rPr>
              <a:t>Server 0 → 45, 52, 48, 60, 55</a:t>
            </a:r>
          </a:p>
          <a:p>
            <a:r>
              <a:rPr lang="en-ID" dirty="0">
                <a:solidFill>
                  <a:schemeClr val="tx1"/>
                </a:solidFill>
              </a:rPr>
              <a:t>Server 1 → 70, 75, 82, 80, 85</a:t>
            </a:r>
          </a:p>
          <a:p>
            <a:r>
              <a:rPr lang="en-ID" dirty="0">
                <a:solidFill>
                  <a:schemeClr val="tx1"/>
                </a:solidFill>
              </a:rPr>
              <a:t>Server 2 → 30, 35, 40, 38, 42</a:t>
            </a:r>
          </a:p>
          <a:p>
            <a:r>
              <a:rPr lang="en-ID" dirty="0">
                <a:solidFill>
                  <a:schemeClr val="tx1"/>
                </a:solidFill>
              </a:rPr>
              <a:t>Server 3 → 90, 92, 88, 95, 91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825501"/>
            <a:ext cx="10515600" cy="5264150"/>
          </a:xfrm>
        </p:spPr>
        <p:txBody>
          <a:bodyPr>
            <a:normAutofit lnSpcReduction="10000"/>
          </a:bodyPr>
          <a:lstStyle/>
          <a:p>
            <a:r>
              <a:rPr lang="en-ID" dirty="0">
                <a:solidFill>
                  <a:schemeClr val="tx1"/>
                </a:solidFill>
              </a:rPr>
              <a:t>Tim IT </a:t>
            </a:r>
            <a:r>
              <a:rPr lang="en-ID" dirty="0" err="1">
                <a:solidFill>
                  <a:schemeClr val="tx1"/>
                </a:solidFill>
              </a:rPr>
              <a:t>ingin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menggunakan</a:t>
            </a:r>
            <a:r>
              <a:rPr lang="en-ID" dirty="0">
                <a:solidFill>
                  <a:schemeClr val="tx1"/>
                </a:solidFill>
              </a:rPr>
              <a:t> data </a:t>
            </a:r>
            <a:r>
              <a:rPr lang="en-ID" dirty="0" err="1">
                <a:solidFill>
                  <a:schemeClr val="tx1"/>
                </a:solidFill>
              </a:rPr>
              <a:t>tersebut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untuk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mengetahui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kondisi</a:t>
            </a:r>
            <a:r>
              <a:rPr lang="en-ID" dirty="0">
                <a:solidFill>
                  <a:schemeClr val="tx1"/>
                </a:solidFill>
              </a:rPr>
              <a:t> server. </a:t>
            </a:r>
            <a:r>
              <a:rPr lang="en-ID" dirty="0" err="1">
                <a:solidFill>
                  <a:schemeClr val="tx1"/>
                </a:solidFill>
              </a:rPr>
              <a:t>Sebuah</a:t>
            </a:r>
            <a:r>
              <a:rPr lang="en-ID" dirty="0">
                <a:solidFill>
                  <a:schemeClr val="tx1"/>
                </a:solidFill>
              </a:rPr>
              <a:t> server </a:t>
            </a:r>
            <a:r>
              <a:rPr lang="en-ID" dirty="0" err="1">
                <a:solidFill>
                  <a:schemeClr val="tx1"/>
                </a:solidFill>
              </a:rPr>
              <a:t>dianggap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mengalami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overload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apabila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penggunaan</a:t>
            </a:r>
            <a:r>
              <a:rPr lang="en-ID" dirty="0">
                <a:solidFill>
                  <a:schemeClr val="tx1"/>
                </a:solidFill>
              </a:rPr>
              <a:t> CPU </a:t>
            </a:r>
            <a:r>
              <a:rPr lang="en-ID" dirty="0" err="1">
                <a:solidFill>
                  <a:schemeClr val="tx1"/>
                </a:solidFill>
              </a:rPr>
              <a:t>mencapai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80% </a:t>
            </a:r>
            <a:r>
              <a:rPr lang="en-ID" b="1" dirty="0" err="1">
                <a:solidFill>
                  <a:schemeClr val="tx1"/>
                </a:solidFill>
              </a:rPr>
              <a:t>atau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lebih</a:t>
            </a:r>
            <a:r>
              <a:rPr lang="en-ID" dirty="0">
                <a:solidFill>
                  <a:schemeClr val="tx1"/>
                </a:solidFill>
              </a:rPr>
              <a:t>.</a:t>
            </a:r>
          </a:p>
          <a:p>
            <a:endParaRPr lang="en-ID" dirty="0">
              <a:solidFill>
                <a:schemeClr val="tx1"/>
              </a:solidFill>
            </a:endParaRPr>
          </a:p>
          <a:p>
            <a:r>
              <a:rPr lang="en-ID" dirty="0">
                <a:solidFill>
                  <a:schemeClr val="tx1"/>
                </a:solidFill>
              </a:rPr>
              <a:t>Oleh </a:t>
            </a:r>
            <a:r>
              <a:rPr lang="en-ID" dirty="0" err="1">
                <a:solidFill>
                  <a:schemeClr val="tx1"/>
                </a:solidFill>
              </a:rPr>
              <a:t>karena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itu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buatlah</a:t>
            </a:r>
            <a:r>
              <a:rPr lang="en-ID" dirty="0">
                <a:solidFill>
                  <a:schemeClr val="tx1"/>
                </a:solidFill>
              </a:rPr>
              <a:t> program yang </a:t>
            </a:r>
            <a:r>
              <a:rPr lang="en-ID" dirty="0" err="1">
                <a:solidFill>
                  <a:schemeClr val="tx1"/>
                </a:solidFill>
              </a:rPr>
              <a:t>dapat</a:t>
            </a:r>
            <a:r>
              <a:rPr lang="en-ID" dirty="0">
                <a:solidFill>
                  <a:schemeClr val="tx1"/>
                </a:solidFill>
              </a:rPr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Menghitung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rata-rata </a:t>
            </a:r>
            <a:r>
              <a:rPr lang="en-ID" b="1" dirty="0" err="1">
                <a:solidFill>
                  <a:schemeClr val="tx1"/>
                </a:solidFill>
              </a:rPr>
              <a:t>penggunaan</a:t>
            </a:r>
            <a:r>
              <a:rPr lang="en-ID" b="1" dirty="0">
                <a:solidFill>
                  <a:schemeClr val="tx1"/>
                </a:solidFill>
              </a:rPr>
              <a:t> CPU </a:t>
            </a:r>
            <a:r>
              <a:rPr lang="en-ID" b="1" dirty="0" err="1">
                <a:solidFill>
                  <a:schemeClr val="tx1"/>
                </a:solidFill>
              </a:rPr>
              <a:t>setiap</a:t>
            </a:r>
            <a:r>
              <a:rPr lang="en-ID" b="1" dirty="0">
                <a:solidFill>
                  <a:schemeClr val="tx1"/>
                </a:solidFill>
              </a:rPr>
              <a:t> server</a:t>
            </a:r>
            <a:r>
              <a:rPr lang="en-ID" dirty="0">
                <a:solidFill>
                  <a:schemeClr val="tx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Menentukan</a:t>
            </a:r>
            <a:r>
              <a:rPr lang="en-ID" dirty="0">
                <a:solidFill>
                  <a:schemeClr val="tx1"/>
                </a:solidFill>
              </a:rPr>
              <a:t> server </a:t>
            </a:r>
            <a:r>
              <a:rPr lang="en-ID" dirty="0" err="1">
                <a:solidFill>
                  <a:schemeClr val="tx1"/>
                </a:solidFill>
              </a:rPr>
              <a:t>dengan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rata-rata </a:t>
            </a:r>
            <a:r>
              <a:rPr lang="en-ID" b="1" dirty="0" err="1">
                <a:solidFill>
                  <a:schemeClr val="tx1"/>
                </a:solidFill>
              </a:rPr>
              <a:t>penggunaan</a:t>
            </a:r>
            <a:r>
              <a:rPr lang="en-ID" b="1" dirty="0">
                <a:solidFill>
                  <a:schemeClr val="tx1"/>
                </a:solidFill>
              </a:rPr>
              <a:t> CPU </a:t>
            </a:r>
            <a:r>
              <a:rPr lang="en-ID" b="1" dirty="0" err="1">
                <a:solidFill>
                  <a:schemeClr val="tx1"/>
                </a:solidFill>
              </a:rPr>
              <a:t>tertinggi</a:t>
            </a:r>
            <a:r>
              <a:rPr lang="en-ID" dirty="0">
                <a:solidFill>
                  <a:schemeClr val="tx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Menentukan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nilai</a:t>
            </a:r>
            <a:r>
              <a:rPr lang="en-ID" b="1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penggunaan</a:t>
            </a:r>
            <a:r>
              <a:rPr lang="en-ID" b="1" dirty="0">
                <a:solidFill>
                  <a:schemeClr val="tx1"/>
                </a:solidFill>
              </a:rPr>
              <a:t> CPU </a:t>
            </a:r>
            <a:r>
              <a:rPr lang="en-ID" b="1" dirty="0" err="1">
                <a:solidFill>
                  <a:schemeClr val="tx1"/>
                </a:solidFill>
              </a:rPr>
              <a:t>tertinggi</a:t>
            </a:r>
            <a:r>
              <a:rPr lang="en-ID" b="1" dirty="0">
                <a:solidFill>
                  <a:schemeClr val="tx1"/>
                </a:solidFill>
              </a:rPr>
              <a:t> dan </a:t>
            </a:r>
            <a:r>
              <a:rPr lang="en-ID" b="1" dirty="0" err="1">
                <a:solidFill>
                  <a:schemeClr val="tx1"/>
                </a:solidFill>
              </a:rPr>
              <a:t>terendah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dari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seluruh</a:t>
            </a:r>
            <a:r>
              <a:rPr lang="en-ID" dirty="0">
                <a:solidFill>
                  <a:schemeClr val="tx1"/>
                </a:solidFill>
              </a:rPr>
              <a:t>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Menentukan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server dan </a:t>
            </a:r>
            <a:r>
              <a:rPr lang="en-ID" b="1" dirty="0" err="1">
                <a:solidFill>
                  <a:schemeClr val="tx1"/>
                </a:solidFill>
              </a:rPr>
              <a:t>waktu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ketika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terjadi</a:t>
            </a:r>
            <a:r>
              <a:rPr lang="en-ID" dirty="0">
                <a:solidFill>
                  <a:schemeClr val="tx1"/>
                </a:solidFill>
              </a:rPr>
              <a:t> overload.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Menghitung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 err="1">
                <a:solidFill>
                  <a:schemeClr val="tx1"/>
                </a:solidFill>
              </a:rPr>
              <a:t>berapa</a:t>
            </a:r>
            <a:r>
              <a:rPr lang="en-ID" b="1" dirty="0">
                <a:solidFill>
                  <a:schemeClr val="tx1"/>
                </a:solidFill>
              </a:rPr>
              <a:t> kali </a:t>
            </a:r>
            <a:r>
              <a:rPr lang="en-ID" b="1" dirty="0" err="1">
                <a:solidFill>
                  <a:schemeClr val="tx1"/>
                </a:solidFill>
              </a:rPr>
              <a:t>kondisi</a:t>
            </a:r>
            <a:r>
              <a:rPr lang="en-ID" b="1" dirty="0">
                <a:solidFill>
                  <a:schemeClr val="tx1"/>
                </a:solidFill>
              </a:rPr>
              <a:t> overload </a:t>
            </a:r>
            <a:r>
              <a:rPr lang="en-ID" b="1" dirty="0" err="1">
                <a:solidFill>
                  <a:schemeClr val="tx1"/>
                </a:solidFill>
              </a:rPr>
              <a:t>terjadi</a:t>
            </a:r>
            <a:r>
              <a:rPr lang="en-ID" dirty="0">
                <a:solidFill>
                  <a:schemeClr val="tx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tx1"/>
                </a:solidFill>
              </a:rPr>
              <a:t>Menentukan</a:t>
            </a:r>
            <a:r>
              <a:rPr lang="en-ID" dirty="0">
                <a:solidFill>
                  <a:schemeClr val="tx1"/>
                </a:solidFill>
              </a:rPr>
              <a:t> status </a:t>
            </a:r>
            <a:r>
              <a:rPr lang="en-ID" dirty="0" err="1">
                <a:solidFill>
                  <a:schemeClr val="tx1"/>
                </a:solidFill>
              </a:rPr>
              <a:t>setiap</a:t>
            </a:r>
            <a:r>
              <a:rPr lang="en-ID" dirty="0">
                <a:solidFill>
                  <a:schemeClr val="tx1"/>
                </a:solidFill>
              </a:rPr>
              <a:t> server </a:t>
            </a:r>
            <a:r>
              <a:rPr lang="en-ID" dirty="0" err="1">
                <a:solidFill>
                  <a:schemeClr val="tx1"/>
                </a:solidFill>
              </a:rPr>
              <a:t>berdasarkan</a:t>
            </a:r>
            <a:r>
              <a:rPr lang="en-ID" dirty="0">
                <a:solidFill>
                  <a:schemeClr val="tx1"/>
                </a:solidFill>
              </a:rPr>
              <a:t> rata-rata </a:t>
            </a:r>
            <a:r>
              <a:rPr lang="en-ID" dirty="0" err="1">
                <a:solidFill>
                  <a:schemeClr val="tx1"/>
                </a:solidFill>
              </a:rPr>
              <a:t>penggunaan</a:t>
            </a:r>
            <a:r>
              <a:rPr lang="en-ID" dirty="0">
                <a:solidFill>
                  <a:schemeClr val="tx1"/>
                </a:solidFill>
              </a:rPr>
              <a:t> CPU: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tx1"/>
                </a:solidFill>
              </a:rPr>
              <a:t>NORMAL</a:t>
            </a:r>
            <a:r>
              <a:rPr lang="en-ID" dirty="0">
                <a:solidFill>
                  <a:schemeClr val="tx1"/>
                </a:solidFill>
              </a:rPr>
              <a:t> → rata-rata &lt; 60%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tx1"/>
                </a:solidFill>
              </a:rPr>
              <a:t>WARNING</a:t>
            </a:r>
            <a:r>
              <a:rPr lang="en-ID" dirty="0">
                <a:solidFill>
                  <a:schemeClr val="tx1"/>
                </a:solidFill>
              </a:rPr>
              <a:t> → rata-rata 60%–79%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tx1"/>
                </a:solidFill>
              </a:rPr>
              <a:t>CRITICAL</a:t>
            </a:r>
            <a:r>
              <a:rPr lang="en-ID" dirty="0">
                <a:solidFill>
                  <a:schemeClr val="tx1"/>
                </a:solidFill>
              </a:rPr>
              <a:t> → rata-rata ≥ 80%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52515"/>
            <a:ext cx="10515600" cy="852485"/>
          </a:xfrm>
        </p:spPr>
        <p:txBody>
          <a:bodyPr>
            <a:normAutofit/>
          </a:bodyPr>
          <a:lstStyle/>
          <a:p>
            <a:r>
              <a:rPr lang="en-US" sz="4400" b="1" dirty="0"/>
              <a:t>Kesimpulan Studi </a:t>
            </a:r>
            <a:r>
              <a:rPr lang="en-US" sz="4400" b="1" dirty="0" err="1"/>
              <a:t>Kasus</a:t>
            </a:r>
            <a:endParaRPr lang="en-ID" sz="4400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019301"/>
            <a:ext cx="10515600" cy="4070350"/>
          </a:xfrm>
        </p:spPr>
        <p:txBody>
          <a:bodyPr/>
          <a:lstStyle/>
          <a:p>
            <a:r>
              <a:rPr lang="en-ID" dirty="0">
                <a:solidFill>
                  <a:schemeClr val="tx1"/>
                </a:solidFill>
              </a:rPr>
              <a:t>Studi </a:t>
            </a:r>
            <a:r>
              <a:rPr lang="en-ID" dirty="0" err="1">
                <a:solidFill>
                  <a:schemeClr val="tx1"/>
                </a:solidFill>
              </a:rPr>
              <a:t>kasus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menunjukkan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bahwa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array 2D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digunakan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untuk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menyimpan</a:t>
            </a:r>
            <a:r>
              <a:rPr lang="en-ID" dirty="0">
                <a:solidFill>
                  <a:schemeClr val="tx1"/>
                </a:solidFill>
              </a:rPr>
              <a:t> data </a:t>
            </a:r>
            <a:r>
              <a:rPr lang="en-ID" dirty="0" err="1">
                <a:solidFill>
                  <a:schemeClr val="tx1"/>
                </a:solidFill>
              </a:rPr>
              <a:t>dalam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bentuk</a:t>
            </a:r>
            <a:r>
              <a:rPr lang="en-ID" dirty="0">
                <a:solidFill>
                  <a:schemeClr val="tx1"/>
                </a:solidFill>
              </a:rPr>
              <a:t> baris dan </a:t>
            </a:r>
            <a:r>
              <a:rPr lang="en-ID" dirty="0" err="1">
                <a:solidFill>
                  <a:schemeClr val="tx1"/>
                </a:solidFill>
              </a:rPr>
              <a:t>kolom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serta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mengakses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setiap</a:t>
            </a:r>
            <a:r>
              <a:rPr lang="en-ID" dirty="0">
                <a:solidFill>
                  <a:schemeClr val="tx1"/>
                </a:solidFill>
              </a:rPr>
              <a:t> data </a:t>
            </a:r>
            <a:r>
              <a:rPr lang="en-ID" dirty="0" err="1">
                <a:solidFill>
                  <a:schemeClr val="tx1"/>
                </a:solidFill>
              </a:rPr>
              <a:t>menggunakan</a:t>
            </a:r>
            <a:r>
              <a:rPr lang="en-ID" dirty="0">
                <a:solidFill>
                  <a:schemeClr val="tx1"/>
                </a:solidFill>
              </a:rPr>
              <a:t> dua </a:t>
            </a:r>
            <a:r>
              <a:rPr lang="en-ID" dirty="0" err="1">
                <a:solidFill>
                  <a:schemeClr val="tx1"/>
                </a:solidFill>
              </a:rPr>
              <a:t>indeks</a:t>
            </a:r>
            <a:r>
              <a:rPr lang="en-ID" dirty="0">
                <a:solidFill>
                  <a:schemeClr val="tx1"/>
                </a:solidFill>
              </a:rPr>
              <a:t>. Dengan </a:t>
            </a:r>
            <a:r>
              <a:rPr lang="en-ID" b="1" dirty="0">
                <a:solidFill>
                  <a:schemeClr val="tx1"/>
                </a:solidFill>
              </a:rPr>
              <a:t>nested loop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seluruh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elemen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ditelusuri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untuk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melakukan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analisis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performa</a:t>
            </a:r>
            <a:r>
              <a:rPr lang="en-ID" dirty="0">
                <a:solidFill>
                  <a:schemeClr val="tx1"/>
                </a:solidFill>
              </a:rPr>
              <a:t> server.</a:t>
            </a:r>
          </a:p>
          <a:p>
            <a:r>
              <a:rPr lang="en-ID" dirty="0">
                <a:solidFill>
                  <a:schemeClr val="tx1"/>
                </a:solidFill>
              </a:rPr>
              <a:t>Proses traversal pada array 2D </a:t>
            </a:r>
            <a:r>
              <a:rPr lang="en-ID" dirty="0" err="1">
                <a:solidFill>
                  <a:schemeClr val="tx1"/>
                </a:solidFill>
              </a:rPr>
              <a:t>memiliki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b="1" dirty="0">
                <a:solidFill>
                  <a:schemeClr val="tx1"/>
                </a:solidFill>
              </a:rPr>
              <a:t>time complexity O(n × m)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karena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setiap</a:t>
            </a:r>
            <a:r>
              <a:rPr lang="en-ID" dirty="0">
                <a:solidFill>
                  <a:schemeClr val="tx1"/>
                </a:solidFill>
              </a:rPr>
              <a:t> baris dan </a:t>
            </a:r>
            <a:r>
              <a:rPr lang="en-ID" dirty="0" err="1">
                <a:solidFill>
                  <a:schemeClr val="tx1"/>
                </a:solidFill>
              </a:rPr>
              <a:t>kolom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perlu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diperiksa</a:t>
            </a:r>
            <a:r>
              <a:rPr lang="en-ID" dirty="0">
                <a:solidFill>
                  <a:schemeClr val="tx1"/>
                </a:solidFill>
              </a:rPr>
              <a:t>.</a:t>
            </a:r>
          </a:p>
          <a:p>
            <a:endParaRPr lang="en-ID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Kompleksitas</a:t>
            </a:r>
            <a:r>
              <a:rPr lang="en-US" b="1" dirty="0"/>
              <a:t> Waktu</a:t>
            </a:r>
            <a:endParaRPr lang="en-ID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Tabel </a:t>
            </a:r>
            <a:r>
              <a:rPr lang="en-US" dirty="0" err="1">
                <a:solidFill>
                  <a:schemeClr val="tx1"/>
                </a:solidFill>
              </a:rPr>
              <a:t>kompleksitas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operasi</a:t>
            </a:r>
            <a:r>
              <a:rPr lang="en-US" dirty="0">
                <a:solidFill>
                  <a:schemeClr val="tx1"/>
                </a:solidFill>
              </a:rPr>
              <a:t> Array</a:t>
            </a:r>
            <a:endParaRPr lang="en-ID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68351"/>
            <a:ext cx="10515600" cy="895350"/>
          </a:xfrm>
        </p:spPr>
        <p:txBody>
          <a:bodyPr>
            <a:normAutofit/>
          </a:bodyPr>
          <a:lstStyle/>
          <a:p>
            <a:r>
              <a:rPr lang="en-US" sz="4400" b="1" dirty="0"/>
              <a:t>Tabel </a:t>
            </a:r>
            <a:r>
              <a:rPr lang="en-US" sz="4400" b="1" dirty="0" err="1"/>
              <a:t>Kompleksitas</a:t>
            </a:r>
            <a:r>
              <a:rPr lang="en-US" sz="4400" b="1" dirty="0"/>
              <a:t> Waktu Array</a:t>
            </a:r>
            <a:endParaRPr lang="en-ID" sz="4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167732"/>
              </p:ext>
            </p:extLst>
          </p:nvPr>
        </p:nvGraphicFramePr>
        <p:xfrm>
          <a:off x="831850" y="1801733"/>
          <a:ext cx="10816177" cy="37257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5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b="1" dirty="0" err="1"/>
                        <a:t>Operasi</a:t>
                      </a:r>
                      <a:endParaRPr lang="en-ID" sz="1800" b="1" dirty="0"/>
                    </a:p>
                  </a:txBody>
                  <a:tcPr marL="70183" marR="70183" marT="35091" marB="3509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b="1" dirty="0" err="1"/>
                        <a:t>Kompleksitas</a:t>
                      </a:r>
                      <a:endParaRPr lang="en-ID" sz="1800" b="1" dirty="0"/>
                    </a:p>
                  </a:txBody>
                  <a:tcPr marL="70183" marR="70183" marT="35091" marB="3509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b="1" dirty="0" err="1"/>
                        <a:t>Keterangan</a:t>
                      </a:r>
                      <a:endParaRPr lang="en-ID" sz="1800" b="1" dirty="0"/>
                    </a:p>
                  </a:txBody>
                  <a:tcPr marL="70183" marR="70183" marT="35091" marB="35091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Akses </a:t>
                      </a:r>
                      <a:r>
                        <a:rPr lang="en-ID" sz="1800" dirty="0" err="1"/>
                        <a:t>elemen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arr</a:t>
                      </a:r>
                      <a:r>
                        <a:rPr lang="en-ID" sz="1800" dirty="0"/>
                        <a:t>[</a:t>
                      </a:r>
                      <a:r>
                        <a:rPr lang="en-ID" sz="1800" dirty="0" err="1"/>
                        <a:t>i</a:t>
                      </a:r>
                      <a:r>
                        <a:rPr lang="en-ID" sz="1800" dirty="0"/>
                        <a:t>]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O(1)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Langsung dihitung dari alamat memori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Update </a:t>
                      </a:r>
                      <a:r>
                        <a:rPr lang="en-ID" sz="1800" dirty="0" err="1"/>
                        <a:t>elemen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arr</a:t>
                      </a:r>
                      <a:r>
                        <a:rPr lang="en-ID" sz="1800" dirty="0"/>
                        <a:t>[</a:t>
                      </a:r>
                      <a:r>
                        <a:rPr lang="en-ID" sz="1800" dirty="0" err="1"/>
                        <a:t>i</a:t>
                      </a:r>
                      <a:r>
                        <a:rPr lang="en-ID" sz="1800" dirty="0"/>
                        <a:t>] = x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O(1)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Langsung menimpa nilai di indeks tsb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Insert di akhir (append)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O(1) amortized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/>
                        <a:t>Kadang</a:t>
                      </a:r>
                      <a:r>
                        <a:rPr lang="en-ID" sz="1800" dirty="0"/>
                        <a:t> O(n) </a:t>
                      </a:r>
                      <a:r>
                        <a:rPr lang="en-ID" sz="1800" dirty="0" err="1"/>
                        <a:t>jika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kapasitas</a:t>
                      </a:r>
                      <a:r>
                        <a:rPr lang="en-ID" sz="1800" dirty="0"/>
                        <a:t> internal </a:t>
                      </a:r>
                      <a:r>
                        <a:rPr lang="en-ID" sz="1800" dirty="0" err="1"/>
                        <a:t>penuh</a:t>
                      </a:r>
                      <a:r>
                        <a:rPr lang="en-ID" sz="1800" dirty="0"/>
                        <a:t> dan </a:t>
                      </a:r>
                      <a:r>
                        <a:rPr lang="en-ID" sz="1800" dirty="0" err="1"/>
                        <a:t>perlu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realokasi</a:t>
                      </a:r>
                      <a:endParaRPr lang="en-ID" sz="1800" dirty="0"/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Insert di awal/tengah (insert)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O(n)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Elemen setelahnya harus digeser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Delete di akhir (pop)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O(1)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Tidak </a:t>
                      </a:r>
                      <a:r>
                        <a:rPr lang="en-ID" sz="1800" dirty="0" err="1"/>
                        <a:t>perlu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pergeseran</a:t>
                      </a:r>
                      <a:endParaRPr lang="en-ID" sz="1800" dirty="0"/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Delete di awal/tengah (pop(i), remove)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O(n)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/>
                        <a:t>Elemen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setelahnya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harus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digeser</a:t>
                      </a:r>
                      <a:endParaRPr lang="en-ID" sz="1800" dirty="0"/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Traversal (kunjungi semua elemen)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O(n)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Harus </a:t>
                      </a:r>
                      <a:r>
                        <a:rPr lang="en-ID" sz="1800" dirty="0" err="1"/>
                        <a:t>melewati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seluruh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elemen</a:t>
                      </a:r>
                      <a:endParaRPr lang="en-ID" sz="1800" dirty="0"/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68351"/>
            <a:ext cx="10515600" cy="819150"/>
          </a:xfrm>
        </p:spPr>
        <p:txBody>
          <a:bodyPr>
            <a:normAutofit/>
          </a:bodyPr>
          <a:lstStyle/>
          <a:p>
            <a:r>
              <a:rPr lang="en-US" sz="4400" b="1" dirty="0"/>
              <a:t>Tabel </a:t>
            </a:r>
            <a:r>
              <a:rPr lang="en-US" sz="4400" b="1" dirty="0" err="1"/>
              <a:t>Kompleksitas</a:t>
            </a:r>
            <a:r>
              <a:rPr lang="en-US" sz="4400" b="1" dirty="0"/>
              <a:t> Waktu </a:t>
            </a:r>
            <a:r>
              <a:rPr lang="en-US" sz="4400" b="1" dirty="0" err="1"/>
              <a:t>Matriks</a:t>
            </a:r>
            <a:r>
              <a:rPr lang="en-US" sz="4400" b="1" dirty="0"/>
              <a:t> (n x n)</a:t>
            </a:r>
            <a:endParaRPr lang="en-ID" sz="4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04875" y="1752601"/>
          <a:ext cx="10382250" cy="46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7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7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7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b="1" dirty="0" err="1"/>
                        <a:t>Operasi</a:t>
                      </a:r>
                      <a:endParaRPr lang="en-ID" sz="1800" b="1" dirty="0"/>
                    </a:p>
                  </a:txBody>
                  <a:tcPr marL="85320" marR="85320" marT="42660" marB="4266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b="1" dirty="0" err="1"/>
                        <a:t>Kompleksitas</a:t>
                      </a:r>
                      <a:endParaRPr lang="en-ID" sz="1800" b="1" dirty="0"/>
                    </a:p>
                  </a:txBody>
                  <a:tcPr marL="85320" marR="85320" marT="42660" marB="4266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1800" b="1" dirty="0" err="1"/>
                        <a:t>Keterangan</a:t>
                      </a:r>
                      <a:endParaRPr lang="en-ID" sz="1800" b="1" dirty="0"/>
                    </a:p>
                  </a:txBody>
                  <a:tcPr marL="85320" marR="85320" marT="42660" marB="4266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Akses </a:t>
                      </a:r>
                      <a:r>
                        <a:rPr lang="en-ID" sz="1800" dirty="0" err="1"/>
                        <a:t>elemen</a:t>
                      </a:r>
                      <a:endParaRPr lang="en-ID" sz="180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O(1)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Alamat </a:t>
                      </a:r>
                      <a:r>
                        <a:rPr lang="en-ID" sz="1800" dirty="0" err="1"/>
                        <a:t>memori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dihitung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langsung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dari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indeks</a:t>
                      </a:r>
                      <a:r>
                        <a:rPr lang="en-ID" sz="1800" dirty="0"/>
                        <a:t> baris &amp; </a:t>
                      </a:r>
                      <a:r>
                        <a:rPr lang="en-ID" sz="1800" dirty="0" err="1"/>
                        <a:t>kolom</a:t>
                      </a:r>
                      <a:endParaRPr lang="en-ID" sz="1800" dirty="0"/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/>
                        <a:t>Penjumlahan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matriks</a:t>
                      </a:r>
                      <a:endParaRPr lang="en-ID" sz="180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O(n²)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Setiap elemen hasil C[i][j] = A[i][j] + B[i][j] dihitung sekali, total n² elemen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Transpose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O(n²)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Setiap elemen dari total n² elemen dipindahkan tepat satu kali ke posisi barunya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Perkalian matriks (metode biasa)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/>
                        <a:t>O(n³)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Tiap elemen hasil butuh n operasi (loop ke-3 k), dikalikan n² elemen hasil → n² × n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Perkalian matriks (Strassen — lanjutan)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/>
                        <a:t>≈ O(n^2.807)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800" dirty="0" err="1"/>
                        <a:t>Memakai</a:t>
                      </a:r>
                      <a:r>
                        <a:rPr lang="en-ID" sz="1800" dirty="0"/>
                        <a:t> divide and conquer; </a:t>
                      </a:r>
                      <a:r>
                        <a:rPr lang="en-ID" sz="1800" dirty="0" err="1"/>
                        <a:t>mengganti</a:t>
                      </a:r>
                      <a:r>
                        <a:rPr lang="en-ID" sz="1800" dirty="0"/>
                        <a:t> 8 </a:t>
                      </a:r>
                      <a:r>
                        <a:rPr lang="en-ID" sz="1800" dirty="0" err="1"/>
                        <a:t>perkalian</a:t>
                      </a:r>
                      <a:r>
                        <a:rPr lang="en-ID" sz="1800" dirty="0"/>
                        <a:t> sub-</a:t>
                      </a:r>
                      <a:r>
                        <a:rPr lang="en-ID" sz="1800" dirty="0" err="1"/>
                        <a:t>matriks</a:t>
                      </a:r>
                      <a:r>
                        <a:rPr lang="en-ID" sz="1800" dirty="0"/>
                        <a:t> </a:t>
                      </a:r>
                      <a:r>
                        <a:rPr lang="en-ID" sz="1800" dirty="0" err="1"/>
                        <a:t>jadi</a:t>
                      </a:r>
                      <a:r>
                        <a:rPr lang="en-ID" sz="1800" dirty="0"/>
                        <a:t> 7 (log₂7 ≈ 2.807)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1059</Words>
  <Application>Microsoft Office PowerPoint</Application>
  <PresentationFormat>Widescreen</PresentationFormat>
  <Paragraphs>144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Cascadia Code</vt:lpstr>
      <vt:lpstr>Office Theme</vt:lpstr>
      <vt:lpstr>Array in Python</vt:lpstr>
      <vt:lpstr>Konsep Dasar Array</vt:lpstr>
      <vt:lpstr>3 Cara Merepresentasikan Array dalam Python:</vt:lpstr>
      <vt:lpstr>Array 1D</vt:lpstr>
      <vt:lpstr>Konsep</vt:lpstr>
      <vt:lpstr>List Comprehensions</vt:lpstr>
      <vt:lpstr>Contoh List Comprehensions</vt:lpstr>
      <vt:lpstr>PowerPoint Presentation</vt:lpstr>
      <vt:lpstr>Implementasi</vt:lpstr>
      <vt:lpstr>Array 2D</vt:lpstr>
      <vt:lpstr>Konsep</vt:lpstr>
      <vt:lpstr>Nested Lists (List Bersarang)</vt:lpstr>
      <vt:lpstr>Mengakses nilai ujian pertama siswa pertama</vt:lpstr>
      <vt:lpstr>Implementasi</vt:lpstr>
      <vt:lpstr>Membuat Array 2D</vt:lpstr>
      <vt:lpstr>Contoh Penggunaan Array Untuk Matriks</vt:lpstr>
      <vt:lpstr>Operasi Matriks</vt:lpstr>
      <vt:lpstr>Operasi Matriks (2)</vt:lpstr>
      <vt:lpstr>Operasi Matriks (3)</vt:lpstr>
      <vt:lpstr>Studi Kasus</vt:lpstr>
      <vt:lpstr>Sistem Monitoring Performa Server</vt:lpstr>
      <vt:lpstr>PowerPoint Presentation</vt:lpstr>
      <vt:lpstr>Kesimpulan Studi Kasus</vt:lpstr>
      <vt:lpstr>Kompleksitas Waktu</vt:lpstr>
      <vt:lpstr>Tabel Kompleksitas Waktu Array</vt:lpstr>
      <vt:lpstr>Tabel Kompleksitas Waktu Matriks (n x 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 Riani Hanum</dc:creator>
  <cp:lastModifiedBy>Dwi Riani Hanum</cp:lastModifiedBy>
  <cp:revision>6</cp:revision>
  <dcterms:created xsi:type="dcterms:W3CDTF">2026-09-23T07:29:00Z</dcterms:created>
  <dcterms:modified xsi:type="dcterms:W3CDTF">2026-09-29T04:39:44Z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3F970D275DDD4648B374CB25DC201309_12</vt:lpwstr>
  </property>
</Properties>
</file>